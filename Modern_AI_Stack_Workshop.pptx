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We'll tour the modern stack for building production AI agents — what each layer does and how they fit — then finish with a live demo of the whole thing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teams can build the happy-path demo. The gap to production is these four buckets. The stack exists to close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picture on one slide. Best-of-breed pieces, not one vendor. We'll walk each layer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gives the common building blocks; LangGraph turns them into a stateful, looping agent. This pair is the runtime everything else plugs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mental model: LangChain composes steps into a chain (a DAG) that runs once, front to back. LangGraph makes the agent a graph — nodes can loop back, state persists across steps, and you get branching, retries, and human-in-the-loop. You reach for LangGraph the moment the work stops being a straight line: an agent that calls tools, reflects, and tries again. Source: TrueFoundry's LangChain vs LangGraph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LangServe ships a runnable as an API. LangGraph Studio is the visual debugger — see the graph run, inspect state, time-travel.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 concerns: LangMem for durable memory, LlamaIndex for RAG over documents, LangExtract for auditable structured 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DSPy treats prompting as a program you optimize, not a string you tweak. Declare the shape, compile against a metric, ship the optimized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philosophies of multi-agent: CrewAI models a structured team with roles and tasks; AutoGen models a free-form conversation between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LangSmith if you live in the LangChain ecosystem; Langfuse if you want vendor-neutral and self-hostable. Both answer: what did the agent do, and what did it cost?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in the middle, fed by memory and data. DSPy compiles the prompts. Multi-agent is an option on the runtime. Serve and debug on the right. Observability wraps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habits that separate a demo from a system you can operate.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switch-to-terminal slide. Run the live demo here — LangChain → LangGraph → Studio → LangServe → memory/data → DSPy → multi-agent → observability. Runbook has the exact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one-liner, then the encouraging note: knowing this stack means you can build like an AI engineer — the judgment for which tool when comes from building.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914400"/>
            <a:ext cx="3474720" cy="347472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4389120"/>
            <a:ext cx="3291840" cy="329184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Production-Ready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49808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Modern AI Stack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4709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· Memory · Data · Optimization · Multi-Agent · Deployment · Observability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→ production gap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is a prompt. Production is everything around the prompt.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loops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 in cycles, not one shot — they need durable state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in your docs + facts that survive across sessions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&amp; traces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ship what you can't measure or replay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0684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8116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control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116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budgets, guardrails, human-in-the-loop on risky tools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AI Stack, by 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623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ORCHESTRATION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883664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0792" y="202082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49540" y="1883664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8412" y="202082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3588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623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420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DEBUG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2642616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0792" y="277977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6426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LangServe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49540" y="2642616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8412" y="277977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3588" y="26426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300984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623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009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3401568"/>
            <a:ext cx="24079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50792" y="35387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3401568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LangMem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7000" y="3401568"/>
            <a:ext cx="24079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5872" y="35387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1048" y="3401568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22080" y="3401568"/>
            <a:ext cx="24079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0952" y="35387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6128" y="3401568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LangExtract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059936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623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0599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31920" y="41605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50792" y="42976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4818888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623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81888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31920" y="4919472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50792" y="505663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4919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749540" y="4919472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8412" y="505663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3588" y="4919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57784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623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5778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931920" y="5678424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50792" y="58155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15968" y="5678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749540" y="5678424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1829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68412" y="58155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3588" y="5678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FOUNDATION &amp;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the 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layer.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interface over any LLM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LCEL: compose prompt → model → parser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926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— the agent primitive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03704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agent orchestration.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74536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graphs with loops &amp; branches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74536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resumable state (checkpointers)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74536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&amp; interrupts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vs LangGraph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family, different job: linear chains vs. stateful graphs.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a linear chain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68880" y="25146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25146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03120" y="2788920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2788920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predictable. A DAG — no loops.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a stateful graph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248716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0" y="248716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0" y="2651760"/>
            <a:ext cx="10972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2926080"/>
            <a:ext cx="1097280" cy="0"/>
          </a:xfrm>
          <a:prstGeom prst="line">
            <a:avLst/>
          </a:prstGeom>
          <a:noFill/>
          <a:ln w="25400">
            <a:solidFill>
              <a:srgbClr val="B58BD6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8686800" y="2724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8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3952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loops until done. State persists.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13632"/>
            <a:ext cx="2743200" cy="347472"/>
          </a:xfrm>
          <a:prstGeom prst="rect">
            <a:avLst/>
          </a:prstGeom>
          <a:solidFill>
            <a:srgbClr val="12352E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13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913632"/>
            <a:ext cx="4069080" cy="347472"/>
          </a:xfrm>
          <a:prstGeom prst="rect">
            <a:avLst/>
          </a:prstGeom>
          <a:solidFill>
            <a:srgbClr val="12352E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913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52360" y="3913632"/>
            <a:ext cx="4069080" cy="347472"/>
          </a:xfrm>
          <a:prstGeom prst="rect">
            <a:avLst/>
          </a:prstGeom>
          <a:solidFill>
            <a:srgbClr val="12352E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913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261104"/>
            <a:ext cx="274320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2611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3280" y="4261104"/>
            <a:ext cx="406908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chains / DAGs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52360" y="4261104"/>
            <a:ext cx="406908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with loops &amp; revisitable state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608576"/>
            <a:ext cx="2743200" cy="347472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6085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383280" y="4608576"/>
            <a:ext cx="4069080" cy="347472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608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Implicit, modular memory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52360" y="4608576"/>
            <a:ext cx="4069080" cy="347472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4608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developer-controlled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4956048"/>
            <a:ext cx="274320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956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383280" y="4956048"/>
            <a:ext cx="406908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4956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predictable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452360" y="4956048"/>
            <a:ext cx="406908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4956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branching, iterative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" y="5303520"/>
            <a:ext cx="2743200" cy="347472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303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83280" y="5303520"/>
            <a:ext cx="4069080" cy="347472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5303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linear pipelines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452360" y="5303520"/>
            <a:ext cx="4069080" cy="347472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5303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long-running, stateful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40080" y="5650992"/>
            <a:ext cx="274320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5650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383280" y="5650992"/>
            <a:ext cx="406908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20440" y="5650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branching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452360" y="5650992"/>
            <a:ext cx="4069080" cy="347472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9520" y="5650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retries, error recovery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LangChain for linear chains; LangGraph the moment you need loops, persistent state, or multiple agents.  ·  Source: TrueFoundry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SHIP &amp; DEBUG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 and see it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LangServe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 to REST API.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/invoke, /stream, /batch endpoints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playground + OpenAPI docs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926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to a deployable service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0370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IDE for agents.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74536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graph execute live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74536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edit state at any node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74536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and replay from any step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MEMORY &amp;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it in your knowledge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0939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LangMem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369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 across sessions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LLM-extracted &amp; consolidated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926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08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back into prompts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3400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6233F"/>
          </a:solidFill>
          <a:ln w="19050">
            <a:solidFill>
              <a:srgbClr val="62B6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6008" y="2203704"/>
            <a:ext cx="201168" cy="201168"/>
          </a:xfrm>
          <a:prstGeom prst="ellipse">
            <a:avLst/>
          </a:prstGeom>
          <a:solidFill>
            <a:srgbClr val="62B6C7"/>
          </a:solidFill>
          <a:ln w="12700">
            <a:solidFill>
              <a:srgbClr val="62B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0939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36008" y="2624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/ data engine.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7258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369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chunk → embed → index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7258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8039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with source citations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7258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3708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many sources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9328" y="2203704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68512" y="20939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LangExtract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39328" y="2624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extraction.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7590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32369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schema-typed JSON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7590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38039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mapped to a source span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7590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43708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— built for documents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OPTIMIZE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prompts — compile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prompt optimization.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I/O with Signatures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 ChainOfThought, ReAct…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926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optimizer tunes prompts to a metric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 w="1905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12848"/>
            <a:ext cx="457200" cy="45720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804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inputs → outputs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2971800"/>
            <a:ext cx="0" cy="38404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3355848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 w="1905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648456"/>
            <a:ext cx="457200" cy="45720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3520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904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Teleprompter + metric + examples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4407408"/>
            <a:ext cx="0" cy="38404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9360" y="479145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37960" y="5084064"/>
            <a:ext cx="457200" cy="45720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4956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78040" y="53400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a versioned artifact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MULTI-AGENT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agent isn't enough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collaboration.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have role · goal · backstory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flow across the crew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926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 hierarchical process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B58B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03704"/>
            <a:ext cx="201168" cy="201168"/>
          </a:xfrm>
          <a:prstGeom prst="ellipse">
            <a:avLst/>
          </a:prstGeom>
          <a:solidFill>
            <a:srgbClr val="B58BD6"/>
          </a:solidFill>
          <a:ln w="12700">
            <a:solidFill>
              <a:srgbClr val="B58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collaboration.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74536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cooperate via chat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74536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until a termination condition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74536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dynamic team topologies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·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ship what you can't see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LangChain-native observability.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Auto-trace every LC / LG run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tokens · cost · tool calls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9264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evaluations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03704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observability.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74536" y="335584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3236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tracing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74536" y="392277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803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— you own the data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74536" y="448970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Costs, evals, prompt management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6233F"/>
          </a:solidFill>
          <a:ln w="1905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84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2377440"/>
            <a:ext cx="5029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8745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984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5029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18745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984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/ Debug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LangServe · Studio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5440" y="18745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6233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1984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optimizes prompts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32461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 w="19050">
            <a:solidFill>
              <a:srgbClr val="62B6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355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Data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2900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· LangMem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LangExtract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0" cy="-365760"/>
          </a:xfrm>
          <a:prstGeom prst="line">
            <a:avLst/>
          </a:prstGeom>
          <a:noFill/>
          <a:ln w="25400">
            <a:solidFill>
              <a:srgbClr val="62B6C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324612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 w="19050">
            <a:solidFill>
              <a:srgbClr val="B58B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Topologies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· AutoGen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1A3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traces · tokens · cost · evals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(LangChain-native)      ·      Langfuse (open-source, framework-agnostic)      — wraps every layer above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checklist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before you ship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metrics, not vibes.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everything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468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tokens, cost, tool calls.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cost &amp; latency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931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models for loops; strong model for the hero step.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3547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931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on risky tools.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074920"/>
            <a:ext cx="502920" cy="50292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010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as artifacts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394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version — don't hand-edit strings.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074920"/>
            <a:ext cx="502920" cy="502920"/>
          </a:xfrm>
          <a:prstGeom prst="ellipse">
            <a:avLst/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86600" y="5010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&amp; remember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86600" y="5394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facts; long-term memory for context.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Stack · Production-Ready AI Agents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6400800" cy="64008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2377440"/>
            <a:ext cx="5486400" cy="54864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LIVE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stack, end to end — 12 tools, one OpenRouter key.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terminal  →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486400" cy="54864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2011680"/>
            <a:ext cx="5029200" cy="50292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is a prompt.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the stack around it.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3703320"/>
            <a:ext cx="10332720" cy="1417320"/>
          </a:xfrm>
          <a:prstGeom prst="roundRect">
            <a:avLst>
              <a:gd name="adj" fmla="val 6452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8862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make you dangerous — judgment makes you an engineer.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44348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just learned the whole stack — you're now equipped to build like an AI engineer. The craft comes from shipping.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2026-08-06T19:18:16Z</dcterms:created>
  <dcterms:modified xsi:type="dcterms:W3CDTF">2026-08-06T19:18:16Z</dcterms:modified>
</cp:coreProperties>
</file>