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is hands-on and focused: just two tools, gone deep. LangChain gives us the building blocks; LangGraph turns them into a real agent. Most of our time is in the notebooks.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beats. Each one is a notebook section you run yourself. We'll pause on the bridge — that's the 'aha' that motivates LangGraph.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LangChain gives us tools and composition; LangGraph gives us loops, state, and control. That's the whole story of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LangChain is the toolkit: one interface over any model, LCEL to compose, and tool-calling. Notebook 1 is all of this. But notice the shape — it flows one way. That's the limit we hit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point: LangChain composes steps that run once. LangGraph makes the agent a graph — nodes loop back, state persists, you get branching and human-in-the-loop. You graduate to LangGraph the moment the work stops being a straight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are exactly notebook 2's sections. The loop on the right is what create_agent automates — the manual tool loop from notebook 1, done for you, with state, branching, and an approval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notebooks, run top to bottom, each ending in a build-it-yourself exercise. Then we open Studio to see a graph execute visually.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JupyterLab. Run notebook 1, then notebook 2, pausing at each exercise. Studio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one-liner: LangChain builds the pieces, LangGraph makes them an agent. Point them back at the two notebooks.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0F1A30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914400"/>
            <a:ext cx="3474720" cy="3474720"/>
          </a:xfrm>
          <a:prstGeom prst="ellipse">
            <a:avLst/>
          </a:prstGeom>
          <a:solidFill>
            <a:srgbClr val="0B1220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4389120"/>
            <a:ext cx="3291840" cy="3291840"/>
          </a:xfrm>
          <a:prstGeom prst="ellipse">
            <a:avLst/>
          </a:prstGeom>
          <a:solidFill>
            <a:srgbClr val="0F1A3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SESSION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Agents with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LangGraph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49808" y="41148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stateless prompt to a stateful, tool-using agent — built live.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tools, built hands-on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16233F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96596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basics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0" y="1965960"/>
            <a:ext cx="53949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chains · tools · streaming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0F1A30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78892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37360" y="278892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0" y="2788920"/>
            <a:ext cx="53949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chain isn't an agent — the manual tool loop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16233F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6118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fundamentals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0" y="3611880"/>
            <a:ext cx="53949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graphs · conditional edges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0F1A30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3484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7360" y="443484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4434840"/>
            <a:ext cx="53949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prebuilt ReAct agent · memory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10881360" cy="749808"/>
          </a:xfrm>
          <a:prstGeom prst="roundRect">
            <a:avLst>
              <a:gd name="adj" fmla="val 7317"/>
            </a:avLst>
          </a:prstGeom>
          <a:solidFill>
            <a:srgbClr val="16233F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25780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37360" y="525780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feel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0" y="5257800"/>
            <a:ext cx="5394960" cy="7498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· LangGraph Studio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LangGraph · Hands-on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is not an agent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is stateless and one-shot. Agents need the machinery around it.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624328" cy="2926080"/>
          </a:xfrm>
          <a:prstGeom prst="roundRect">
            <a:avLst>
              <a:gd name="adj" fmla="val 2787"/>
            </a:avLst>
          </a:prstGeom>
          <a:solidFill>
            <a:srgbClr val="16233F"/>
          </a:solidFill>
          <a:ln w="12700">
            <a:solidFill>
              <a:srgbClr val="2433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97480"/>
            <a:ext cx="640080" cy="128016"/>
          </a:xfrm>
          <a:prstGeom prst="roundRect">
            <a:avLst>
              <a:gd name="adj" fmla="val 35714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&amp; state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act → observe, repeatedly — with memory of the run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2377440"/>
            <a:ext cx="2624328" cy="2926080"/>
          </a:xfrm>
          <a:prstGeom prst="roundRect">
            <a:avLst>
              <a:gd name="adj" fmla="val 2787"/>
            </a:avLst>
          </a:prstGeom>
          <a:solidFill>
            <a:srgbClr val="16233F"/>
          </a:solidFill>
          <a:ln w="12700">
            <a:solidFill>
              <a:srgbClr val="2433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2697480"/>
            <a:ext cx="640080" cy="128016"/>
          </a:xfrm>
          <a:prstGeom prst="roundRect">
            <a:avLst>
              <a:gd name="adj" fmla="val 35714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332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03320" y="36576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beyond text: call functions, APIs,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2377440"/>
            <a:ext cx="2624328" cy="2926080"/>
          </a:xfrm>
          <a:prstGeom prst="roundRect">
            <a:avLst>
              <a:gd name="adj" fmla="val 2787"/>
            </a:avLst>
          </a:prstGeom>
          <a:solidFill>
            <a:srgbClr val="16233F"/>
          </a:solidFill>
          <a:ln w="12700">
            <a:solidFill>
              <a:srgbClr val="2433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2697480"/>
            <a:ext cx="640080" cy="128016"/>
          </a:xfrm>
          <a:prstGeom prst="roundRect">
            <a:avLst>
              <a:gd name="adj" fmla="val 35714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36576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earlier turns and facts across a conversation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06840" y="2377440"/>
            <a:ext cx="2624328" cy="2926080"/>
          </a:xfrm>
          <a:prstGeom prst="roundRect">
            <a:avLst>
              <a:gd name="adj" fmla="val 2787"/>
            </a:avLst>
          </a:prstGeom>
          <a:solidFill>
            <a:srgbClr val="16233F"/>
          </a:solidFill>
          <a:ln w="12700">
            <a:solidFill>
              <a:srgbClr val="2433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281160" y="2697480"/>
            <a:ext cx="640080" cy="128016"/>
          </a:xfrm>
          <a:prstGeom prst="roundRect">
            <a:avLst>
              <a:gd name="adj" fmla="val 35714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281160" y="36576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Branch, retry, and pause for human approval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LangGraph · Hands-on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— the foundation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model-agnostic interface, composable chains, and tool-calling.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560320"/>
            <a:ext cx="384048" cy="384048"/>
          </a:xfrm>
          <a:prstGeom prst="ellipse">
            <a:avLst/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496312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 </a:t>
            </a:r>
            <a:pPr indent="0" marL="0">
              <a:buNone/>
            </a:pPr>
            <a:r>
              <a:rPr lang="en-US" sz="14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with the pipe: prompt | model | parser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493008"/>
            <a:ext cx="384048" cy="384048"/>
          </a:xfrm>
          <a:prstGeom prst="ellipse">
            <a:avLst/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34290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 </a:t>
            </a:r>
            <a:pPr indent="0" marL="0">
              <a:buNone/>
            </a:pPr>
            <a:r>
              <a:rPr lang="en-US" sz="14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requests a function — the agent primitive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4425696"/>
            <a:ext cx="384048" cy="384048"/>
          </a:xfrm>
          <a:prstGeom prst="ellipse">
            <a:avLst/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436168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&amp; more  </a:t>
            </a:r>
            <a:pPr indent="0" marL="0">
              <a:buNone/>
            </a:pPr>
            <a:r>
              <a:rPr lang="en-US" sz="14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/ stream / batch / async on any chain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23760" y="2331720"/>
            <a:ext cx="4297680" cy="1874520"/>
          </a:xfrm>
          <a:prstGeom prst="roundRect">
            <a:avLst>
              <a:gd name="adj" fmla="val 3902"/>
            </a:avLst>
          </a:prstGeom>
          <a:solidFill>
            <a:srgbClr val="081428"/>
          </a:solidFill>
          <a:ln w="12700">
            <a:solidFill>
              <a:srgbClr val="24334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52360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52360" y="27432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E7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= prompt | llm | parser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FE7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chain.invoke({"topic": "agents"})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FE7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chain.stream({...})   # token by token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223760" y="4343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runs one direction — a DAG: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23760" y="46634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8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46634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759952" y="466344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8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59952" y="466344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0296144" y="4663440"/>
            <a:ext cx="1225296" cy="548640"/>
          </a:xfrm>
          <a:prstGeom prst="roundRect">
            <a:avLst>
              <a:gd name="adj" fmla="val 13333"/>
            </a:avLst>
          </a:prstGeom>
          <a:solidFill>
            <a:srgbClr val="18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96144" y="466344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458200" y="4937760"/>
            <a:ext cx="30175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94392" y="4937760"/>
            <a:ext cx="301752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LangGraph · Hands-on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DISTINCTION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vs LangGraph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family, different job: linear chains vs. stateful graphs.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9385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— a linear chain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51460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8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5146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68880" y="251460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8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5146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69080" y="2514600"/>
            <a:ext cx="1234440" cy="548640"/>
          </a:xfrm>
          <a:prstGeom prst="roundRect">
            <a:avLst>
              <a:gd name="adj" fmla="val 13333"/>
            </a:avLst>
          </a:prstGeom>
          <a:solidFill>
            <a:srgbClr val="18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25146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103120" y="2788920"/>
            <a:ext cx="3657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03320" y="2788920"/>
            <a:ext cx="36576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68680" y="3246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pass, predictable. A DAG — no loops.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45352" y="1828800"/>
            <a:ext cx="5303520" cy="1965960"/>
          </a:xfrm>
          <a:prstGeom prst="roundRect">
            <a:avLst>
              <a:gd name="adj" fmla="val 3721"/>
            </a:avLst>
          </a:prstGeom>
          <a:solidFill>
            <a:srgbClr val="16233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73952" y="19385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— a stateful graph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49440" y="2487168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8294A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487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601200" y="2487168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18294A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2487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503920" y="2651760"/>
            <a:ext cx="109728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503920" y="2926080"/>
            <a:ext cx="1097280" cy="0"/>
          </a:xfrm>
          <a:prstGeom prst="line">
            <a:avLst/>
          </a:prstGeom>
          <a:noFill/>
          <a:ln w="25400">
            <a:solidFill>
              <a:srgbClr val="B58BD6"/>
            </a:solidFill>
            <a:prstDash val="solid"/>
            <a:headEnd type="triangle"/>
          </a:ln>
        </p:spPr>
      </p:sp>
      <p:sp>
        <p:nvSpPr>
          <p:cNvPr id="24" name="Text 22"/>
          <p:cNvSpPr/>
          <p:nvPr/>
        </p:nvSpPr>
        <p:spPr>
          <a:xfrm>
            <a:off x="8686800" y="27249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8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73952" y="3246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→ act → observe, loops until done. State persists.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3977640"/>
            <a:ext cx="2743200" cy="365760"/>
          </a:xfrm>
          <a:prstGeom prst="rect">
            <a:avLst/>
          </a:prstGeom>
          <a:solidFill>
            <a:srgbClr val="12352E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977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83280" y="3977640"/>
            <a:ext cx="4069080" cy="365760"/>
          </a:xfrm>
          <a:prstGeom prst="rect">
            <a:avLst/>
          </a:prstGeom>
          <a:solidFill>
            <a:srgbClr val="12352E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977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452360" y="3977640"/>
            <a:ext cx="4069080" cy="365760"/>
          </a:xfrm>
          <a:prstGeom prst="rect">
            <a:avLst/>
          </a:prstGeom>
          <a:solidFill>
            <a:srgbClr val="12352E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3977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4343400"/>
            <a:ext cx="2743200" cy="365760"/>
          </a:xfrm>
          <a:prstGeom prst="rect">
            <a:avLst/>
          </a:prstGeom>
          <a:solidFill>
            <a:srgbClr val="0F1A30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343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383280" y="4343400"/>
            <a:ext cx="4069080" cy="365760"/>
          </a:xfrm>
          <a:prstGeom prst="rect">
            <a:avLst/>
          </a:prstGeom>
          <a:solidFill>
            <a:srgbClr val="0F1A30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4343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chains / DAGs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52360" y="4343400"/>
            <a:ext cx="4069080" cy="365760"/>
          </a:xfrm>
          <a:prstGeom prst="rect">
            <a:avLst/>
          </a:prstGeom>
          <a:solidFill>
            <a:srgbClr val="0F1A30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4343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with loops &amp; state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4709160"/>
            <a:ext cx="2743200" cy="365760"/>
          </a:xfrm>
          <a:prstGeom prst="rect">
            <a:avLst/>
          </a:prstGeom>
          <a:solidFill>
            <a:srgbClr val="16233F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4709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383280" y="4709160"/>
            <a:ext cx="4069080" cy="365760"/>
          </a:xfrm>
          <a:prstGeom prst="rect">
            <a:avLst/>
          </a:prstGeom>
          <a:solidFill>
            <a:srgbClr val="16233F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4709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Implicit, modular memory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452360" y="4709160"/>
            <a:ext cx="4069080" cy="365760"/>
          </a:xfrm>
          <a:prstGeom prst="rect">
            <a:avLst/>
          </a:prstGeom>
          <a:solidFill>
            <a:srgbClr val="16233F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4709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developer-controlled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0080" y="5074920"/>
            <a:ext cx="2743200" cy="365760"/>
          </a:xfrm>
          <a:prstGeom prst="rect">
            <a:avLst/>
          </a:prstGeom>
          <a:solidFill>
            <a:srgbClr val="0F1A30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5074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383280" y="5074920"/>
            <a:ext cx="4069080" cy="365760"/>
          </a:xfrm>
          <a:prstGeom prst="rect">
            <a:avLst/>
          </a:prstGeom>
          <a:solidFill>
            <a:srgbClr val="0F1A30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20440" y="5074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Step-by-step, predictable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452360" y="5074920"/>
            <a:ext cx="4069080" cy="365760"/>
          </a:xfrm>
          <a:prstGeom prst="rect">
            <a:avLst/>
          </a:prstGeom>
          <a:solidFill>
            <a:srgbClr val="0F1A30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0" y="5074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Adaptive, branching, iterative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40080" y="5440680"/>
            <a:ext cx="2743200" cy="365760"/>
          </a:xfrm>
          <a:prstGeom prst="rect">
            <a:avLst/>
          </a:prstGeom>
          <a:solidFill>
            <a:srgbClr val="16233F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" y="5440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383280" y="5440680"/>
            <a:ext cx="4069080" cy="365760"/>
          </a:xfrm>
          <a:prstGeom prst="rect">
            <a:avLst/>
          </a:prstGeom>
          <a:solidFill>
            <a:srgbClr val="16233F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20440" y="5440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Prototypes, linear pipelines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7452360" y="5440680"/>
            <a:ext cx="4069080" cy="365760"/>
          </a:xfrm>
          <a:prstGeom prst="rect">
            <a:avLst/>
          </a:prstGeom>
          <a:solidFill>
            <a:srgbClr val="16233F"/>
          </a:solidFill>
          <a:ln w="6350">
            <a:solidFill>
              <a:srgbClr val="24334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5440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Multi-step, stateful agents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LangChain for linear chains; LangGraph the moment you need loops, state, or branching.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LangGraph · Hands-on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— stateful agents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84248"/>
            <a:ext cx="365760" cy="365760"/>
          </a:xfrm>
          <a:prstGeom prst="ellipse">
            <a:avLst/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07008" y="19202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graph  —  </a:t>
            </a:r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are functions over a shared state; edges say what runs next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770632"/>
            <a:ext cx="365760" cy="365760"/>
          </a:xfrm>
          <a:prstGeom prst="ellipse">
            <a:avLst/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706624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  —  </a:t>
            </a:r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router picks the next node — branching &amp; retries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3557016"/>
            <a:ext cx="365760" cy="365760"/>
          </a:xfrm>
          <a:prstGeom prst="ellipse">
            <a:avLst/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57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493008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  —  </a:t>
            </a:r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create_agent runs the reason→act→observe loop for you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343400"/>
            <a:ext cx="365760" cy="365760"/>
          </a:xfrm>
          <a:prstGeom prst="ellipse">
            <a:avLst/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4279392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 —  </a:t>
            </a:r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checkpointer + thread_id remembers the conversation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5129784"/>
            <a:ext cx="365760" cy="365760"/>
          </a:xfrm>
          <a:prstGeom prst="ellipse">
            <a:avLst/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129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5065776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 —  </a:t>
            </a:r>
            <a:pPr indent="0" marL="0">
              <a:buNone/>
            </a:pPr>
            <a:r>
              <a:rPr lang="en-US" sz="135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interrupt_before pauses for approval on risky tools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06640" y="1965960"/>
            <a:ext cx="4114800" cy="3931920"/>
          </a:xfrm>
          <a:prstGeom prst="roundRect">
            <a:avLst>
              <a:gd name="adj" fmla="val 1860"/>
            </a:avLst>
          </a:prstGeom>
          <a:solidFill>
            <a:srgbClr val="16233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0664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LOOP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63840" y="26060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8294A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0" y="2606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692640" y="26060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8294A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92640" y="2606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235440" y="2761488"/>
            <a:ext cx="4572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35440" y="3035808"/>
            <a:ext cx="457200" cy="0"/>
          </a:xfrm>
          <a:prstGeom prst="line">
            <a:avLst/>
          </a:prstGeom>
          <a:noFill/>
          <a:ln w="25400">
            <a:solidFill>
              <a:srgbClr val="B58BD6"/>
            </a:solidFill>
            <a:prstDash val="solid"/>
            <a:headEnd type="triangle"/>
          </a:ln>
        </p:spPr>
      </p:sp>
      <p:sp>
        <p:nvSpPr>
          <p:cNvPr id="27" name="Text 25"/>
          <p:cNvSpPr/>
          <p:nvPr/>
        </p:nvSpPr>
        <p:spPr>
          <a:xfrm>
            <a:off x="7406640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58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loops until done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549640" y="3154680"/>
            <a:ext cx="0" cy="685800"/>
          </a:xfrm>
          <a:prstGeom prst="line">
            <a:avLst/>
          </a:prstGeom>
          <a:noFill/>
          <a:ln w="19050">
            <a:solidFill>
              <a:srgbClr val="9AAAC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863840" y="38862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18294A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63840" y="3886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68096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 persists across steps (checkpointer)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80960" y="4983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pause before Tools for human approval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80960" y="5349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conditional edges branch the path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LangGraph · Hands-on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run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05840" y="326440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1455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chain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379476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36758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+ closing the loop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432511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4206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4855464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47365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add a 2nd tool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45352" y="192024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16233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65392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65392" y="2423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611112" y="3264408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31455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graph from scratch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611112" y="3794760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36758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11112" y="4325112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4206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agent + memory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11112" y="4855464"/>
            <a:ext cx="109728" cy="10972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47365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human-in-the-loop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 langgraph dev  →  open LangGraph Studio to watch the graph run, inspect state, fork &amp; replay.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&amp; LangGraph · Hands-on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6400800" cy="6400800"/>
          </a:xfrm>
          <a:prstGeom prst="ellipse">
            <a:avLst/>
          </a:prstGeom>
          <a:solidFill>
            <a:srgbClr val="0F1A30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2377440"/>
            <a:ext cx="5486400" cy="5486400"/>
          </a:xfrm>
          <a:prstGeom prst="ellipse">
            <a:avLst/>
          </a:prstGeom>
          <a:solidFill>
            <a:srgbClr val="0F1A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4206240"/>
            <a:ext cx="3108960" cy="3108960"/>
          </a:xfrm>
          <a:prstGeom prst="ellipse">
            <a:avLst/>
          </a:prstGeom>
          <a:solidFill>
            <a:srgbClr val="0B122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LIVE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it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JupyterLab → notebooks/01_langchain.ipynb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top to bottom · do the 🧪 Your turn cells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023360"/>
            <a:ext cx="5486400" cy="5486400"/>
          </a:xfrm>
          <a:prstGeom prst="ellipse">
            <a:avLst/>
          </a:prstGeom>
          <a:solidFill>
            <a:srgbClr val="0F1A30"/>
          </a:solidFill>
          <a:ln w="12700">
            <a:solidFill>
              <a:srgbClr val="2433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2011680"/>
            <a:ext cx="5029200" cy="5029200"/>
          </a:xfrm>
          <a:prstGeom prst="ellipse">
            <a:avLst/>
          </a:prstGeom>
          <a:solidFill>
            <a:srgbClr val="0F1A3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builds the pieces.</a:t>
            </a:r>
            <a:endParaRPr lang="en-US" sz="3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makes them an agent.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14400" y="3794760"/>
            <a:ext cx="10332720" cy="1371600"/>
          </a:xfrm>
          <a:prstGeom prst="roundRect">
            <a:avLst>
              <a:gd name="adj" fmla="val 6667"/>
            </a:avLst>
          </a:prstGeom>
          <a:solidFill>
            <a:srgbClr val="16233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397764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flow one way; agents loop, remember, branch, and pause for you.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45262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both — plus the notebooks to keep building.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5532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2026-08-06T21:18:43Z</dcterms:created>
  <dcterms:modified xsi:type="dcterms:W3CDTF">2026-08-06T21:18:43Z</dcterms:modified>
</cp:coreProperties>
</file>